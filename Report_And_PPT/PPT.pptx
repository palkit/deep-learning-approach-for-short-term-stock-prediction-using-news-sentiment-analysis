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69" r:id="rId7"/>
    <p:sldId id="270" r:id="rId8"/>
    <p:sldId id="271" r:id="rId9"/>
    <p:sldId id="277" r:id="rId10"/>
    <p:sldId id="272" r:id="rId11"/>
    <p:sldId id="273" r:id="rId12"/>
    <p:sldId id="274" r:id="rId13"/>
    <p:sldId id="275" r:id="rId14"/>
    <p:sldId id="276" r:id="rId15"/>
    <p:sldId id="268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1797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6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6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Short-Term Stock Prediction Using News Sentiment Analysis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Pari Gupta (2210990640)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Palkit Dhiman (2210990633)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Nikhil Guleria (2210990610)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Raghav Thakur (2210990701)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Gifty Gupta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market prediction is complex and volatile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models rely on historical prices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factors like news sentiment affect markets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improves time-series forecasting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combine sentiment analysis with stock prediction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23A74-4674-282A-3A07-42B566DF3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34912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9E296A-A277-748C-FF27-ACCA9A9B64B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29184" y="914040"/>
            <a:ext cx="8549640" cy="386827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technical indicators with news sentiment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LSTM-based prediction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short-term stock prediction accuracy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hybrid model with baseline LSTM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02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CFEF6-C637-F0AC-71DA-5DC1B7D28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10528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C8EED-9D28-7574-5F32-102FB612B3E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10896" y="0"/>
            <a:ext cx="8229600" cy="640994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ML models: regression, SVM, decision trees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performs well for sequential financial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captures investor psychology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approaches improve prediction accuracy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better integration of financial and textual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591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3F6C4-5ABB-0DE3-E5D8-6EEE4F0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22720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6BEA5F-BCB9-4E58-818A-864C3C9B96F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38912" y="2971980"/>
            <a:ext cx="8293608" cy="91404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from Yahoo Finance and news 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of stock and textual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on financial headlines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integration of technical + sentiment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using LSTM deep learning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373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3040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Deep Learning Model for Stock Price Prediction — Workflow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82880" y="1204722"/>
            <a:ext cx="8778240" cy="18288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1259586"/>
            <a:ext cx="3657600" cy="23774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25958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DATA PIPELINE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74920" y="1259586"/>
            <a:ext cx="3657600" cy="237744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25958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DATA PIPELINE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6032" y="148818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  <a:p>
            <a:r>
              <a:rPr lang="en-US" sz="7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1497330"/>
            <a:ext cx="3657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524762"/>
            <a:ext cx="365760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Stock 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" y="1725564"/>
            <a:ext cx="365760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C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(OHLCV)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74920" y="1497330"/>
            <a:ext cx="3657600" cy="43891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524762"/>
            <a:ext cx="365760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News Data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4920" y="1725564"/>
            <a:ext cx="365760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C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&amp; timestamps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084832" y="1936242"/>
            <a:ext cx="0" cy="164592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2036826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903720" y="1936242"/>
            <a:ext cx="0" cy="164592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2036826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56032" y="2064258"/>
            <a:ext cx="3657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091690"/>
            <a:ext cx="365760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" y="2292492"/>
            <a:ext cx="365760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C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Normalize, handle missing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074920" y="2064258"/>
            <a:ext cx="3657600" cy="43891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091690"/>
            <a:ext cx="365760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292492"/>
            <a:ext cx="365760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C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Tokenize, remove stop words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084832" y="2503170"/>
            <a:ext cx="0" cy="164592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3392" y="2603754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903720" y="2503170"/>
            <a:ext cx="0" cy="164592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2603754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56032" y="2631186"/>
            <a:ext cx="36576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2658618"/>
            <a:ext cx="365760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Indicators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6032" y="2859420"/>
            <a:ext cx="365760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C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MA, RSI, MACD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074920" y="2631186"/>
            <a:ext cx="3657600" cy="43891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658618"/>
            <a:ext cx="365760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74920" y="2859420"/>
            <a:ext cx="365760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C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NLP: +1 / 0 / −1  |  Daily score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084832" y="3106674"/>
            <a:ext cx="0" cy="18288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03720" y="3106674"/>
            <a:ext cx="0" cy="18288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84832" y="3289554"/>
            <a:ext cx="4818888" cy="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94276" y="3289554"/>
            <a:ext cx="0" cy="18288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02836" y="3408426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560320" y="3600450"/>
            <a:ext cx="4023360" cy="43891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3627882"/>
            <a:ext cx="402336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Feature Set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60320" y="3828684"/>
            <a:ext cx="402336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C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+ Technical Indicators + Sentiment Score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72000" y="4039362"/>
            <a:ext cx="0" cy="164592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4139946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560320" y="4130802"/>
            <a:ext cx="2468880" cy="438912"/>
          </a:xfrm>
          <a:prstGeom prst="rect">
            <a:avLst/>
          </a:prstGeom>
          <a:solidFill>
            <a:srgbClr val="641E16"/>
          </a:solidFill>
          <a:ln w="12700">
            <a:solidFill>
              <a:srgbClr val="641E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0320" y="4158234"/>
            <a:ext cx="246888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Model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560320" y="4359036"/>
            <a:ext cx="246888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C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LSTM Layers → Dense Output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120640" y="4130802"/>
            <a:ext cx="1417320" cy="438912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0" y="4158234"/>
            <a:ext cx="141732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20640" y="4359036"/>
            <a:ext cx="141732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C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/ MSE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572000" y="4569714"/>
            <a:ext cx="0" cy="164592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80560" y="4670298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560320" y="4661154"/>
            <a:ext cx="4023360" cy="43891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0" y="4688586"/>
            <a:ext cx="402336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Prediction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560320" y="4889388"/>
            <a:ext cx="402336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C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(Up/Down) or Future Price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72000" y="5100066"/>
            <a:ext cx="0" cy="164592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80560" y="5200650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560320" y="5191506"/>
            <a:ext cx="4023360" cy="43891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60320" y="5218938"/>
            <a:ext cx="402336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560320" y="5419740"/>
            <a:ext cx="402336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C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·  Precision  ·  Recall  ·  F1-score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011680" y="5721858"/>
            <a:ext cx="164592" cy="12801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12848" y="572185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Pipeline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749040" y="5721858"/>
            <a:ext cx="164592" cy="128016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950208" y="572185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Pipeline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486400" y="5721858"/>
            <a:ext cx="164592" cy="128016"/>
          </a:xfrm>
          <a:prstGeom prst="rect">
            <a:avLst/>
          </a:prstGeom>
          <a:solidFill>
            <a:srgbClr val="641E16"/>
          </a:solidFill>
          <a:ln w="12700">
            <a:solidFill>
              <a:srgbClr val="641E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87568" y="572185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Model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223760" y="5721858"/>
            <a:ext cx="164592" cy="12801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24928" y="572185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81F86-21D0-B61C-633C-49041E346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22720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&amp;Features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1AE5AB-D7DD-3BDB-C2C8-E447A0DBA6E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94360" y="2971980"/>
            <a:ext cx="9729216" cy="91404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indicators used: MA, RSI, MACD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headlines cleaned and tokenized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scores assigned as positive/neutral/negative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sentiment scores aggregated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structured and unstructured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355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A7378-E0E4-B40D-5759-7C30E92B8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34912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 Architecture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B51A5-D5CE-5E4C-6981-F2B0B8BFDA3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57784" y="2971980"/>
            <a:ext cx="10186416" cy="91404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 with integrated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layers learn temporal dependencies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output layer for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 optimizer used for training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using Accuracy, Precision, Recall, F1-score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998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01A8F-1D01-AE99-2E10-045C84EFA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47104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93F4E-0590-A881-5CA0-9BF4BFBC34C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57784" y="2889504"/>
            <a:ext cx="4818888" cy="193852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accuracy: 90%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LSTM accuracy: 84%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features improved prediction quality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better captured market trends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stable and consistent predictions observed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242E23-8E49-48B6-C6FD-9008011E0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944" y="1905407"/>
            <a:ext cx="3877056" cy="271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412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849DC-35CC-2468-9902-79016AAD8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10528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7B8E23-CBEB-629E-13B7-E773DE97A12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12064" y="2852928"/>
            <a:ext cx="8750808" cy="91404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quality of financial news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handling sarcasm and financial jargon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mainly on short-term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data integration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requirements and overfitting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828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70DC6-1C7F-D028-2BBA-C659F38EE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10528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E73FA4-0CA6-5B7B-A7BF-02209747CEF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57784" y="1837944"/>
            <a:ext cx="10543032" cy="91404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improves stock prediction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sentiment and financial data is effective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captures temporal market behavior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transformers and real-time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smarter financial decision-making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87DFB3-6957-D279-1334-714A93944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152" y="3429000"/>
            <a:ext cx="6412801" cy="324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863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34766</TotalTime>
  <Words>489</Words>
  <Application>Microsoft Office PowerPoint</Application>
  <PresentationFormat>On-screen Show (4:3)</PresentationFormat>
  <Paragraphs>147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Objective</vt:lpstr>
      <vt:lpstr>Literature Review</vt:lpstr>
      <vt:lpstr>Methodology</vt:lpstr>
      <vt:lpstr>PowerPoint Presentation</vt:lpstr>
      <vt:lpstr>Data Preprocessing &amp;Features</vt:lpstr>
      <vt:lpstr>LSTM Model Architecture</vt:lpstr>
      <vt:lpstr>Results &amp; Discussion</vt:lpstr>
      <vt:lpstr>Limitations</vt:lpstr>
      <vt:lpstr>Conclusion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Raghav Thakur</cp:lastModifiedBy>
  <cp:revision>2307</cp:revision>
  <dcterms:created xsi:type="dcterms:W3CDTF">2010-04-09T07:36:15Z</dcterms:created>
  <dcterms:modified xsi:type="dcterms:W3CDTF">2026-05-17T19:15:00Z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